
<file path=[Content_Types].xml><?xml version="1.0" encoding="utf-8"?>
<Types xmlns="http://schemas.openxmlformats.org/package/2006/content-types">
  <Default Extension="bin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5" r:id="rId4"/>
    <p:sldId id="266" r:id="rId5"/>
    <p:sldId id="267" r:id="rId6"/>
    <p:sldId id="268" r:id="rId7"/>
    <p:sldId id="269" r:id="rId8"/>
    <p:sldId id="270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172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44E5-7EA9-A00F-222A-D4EFD78D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F15C68-2B3F-571A-7DF0-7D84C2B520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324CA8-D6DB-E063-9105-674BE4F57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B2C23-CAA5-461A-B309-C4617A063A1D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9F916-4B1C-3D95-33C8-9363A83D5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3C38B-70AE-5980-A3CD-A4ECE0FE4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F7434-85A5-44BE-A212-A46A5AFA8B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9839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2B496-8638-954D-4D09-C97F3AC8E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1CEC1-09D0-ABCF-EC32-672B8E2C1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oundRect">
            <a:avLst>
              <a:gd name="adj" fmla="val 4177"/>
            </a:avLst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72C83-063E-4D70-4E31-94AF42721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B2C23-CAA5-461A-B309-C4617A063A1D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1F97A-D64B-7236-A706-E42180251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059C3-F302-3320-7EC0-1110229FD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F7434-85A5-44BE-A212-A46A5AFA8B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7971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003E3-9AC9-6E4D-2CA7-E9B5F6066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9BBAA-7735-4006-4526-51F26B538B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25614-D125-39B8-FA07-FF17A1E77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B2C23-CAA5-461A-B309-C4617A063A1D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01BEE3-EE59-8FAC-294A-B32FAE563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334F7-18E4-AD6F-99B3-E81880B24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F7434-85A5-44BE-A212-A46A5AFA8B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2612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34CF3-3D4D-C273-8CCD-5EAD9095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1182B-98E8-AA42-1A59-7EFEA90A8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8EEEB-B32D-8CC9-16A6-554B5027B9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0709EF-B791-2EEA-36E2-38104C12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B2C23-CAA5-461A-B309-C4617A063A1D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15842E-6F3A-A85B-6D53-65B5AE8C2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AEBD62-29A1-2911-ADF8-F8BCCA803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F7434-85A5-44BE-A212-A46A5AFA8B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07429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5427-74A9-5ED8-7773-0A9D0520D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FBD954-6CF1-9CE6-CACF-455F6CC77E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18FDFA-E79B-681D-21E4-8E6CB44C9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421589-80D3-F4DE-2BF3-EF09A5477D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54D82-8EA7-380F-7522-B00F34C5AA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AFC3FA-8362-05F0-1E84-C69C84DCA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B2C23-CAA5-461A-B309-C4617A063A1D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F4058C-EFDC-73FA-7296-F85EE350D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CFA4C7-97BF-BB6D-558A-3F9C45D2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F7434-85A5-44BE-A212-A46A5AFA8B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5632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93F998-5CFD-9FFA-739A-73D9D616D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B2C23-CAA5-461A-B309-C4617A063A1D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6F2A18-A0A1-3DF4-CA91-995A773C6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E8E93-DC20-D6E7-8A2C-80486A532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F7434-85A5-44BE-A212-A46A5AFA8B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7659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D7E1B-3550-3840-CD6B-54BC1D478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AA294-D019-64D6-420D-13887C448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6530B7-90A7-3613-AC11-A4CB41AF5E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3F1F35-E180-2D84-1260-3DD835132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B2C23-CAA5-461A-B309-C4617A063A1D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44B64A-BFA1-F5FA-CA69-5D81434A2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10EBEF-E358-2D3D-A2F9-B6EB3A1BF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F7434-85A5-44BE-A212-A46A5AFA8B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464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252C4-2991-64A8-3E05-2F2A11D18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9B7D28-C3EE-DA99-F6DF-A1DC180A7E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57CCCF-DEC8-7499-A7D2-878197E245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9535CF-242A-22B4-F764-120A33715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B2C23-CAA5-461A-B309-C4617A063A1D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6783F1-76D6-C1A9-D67F-2FB614073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A694F2-6D19-29F7-3336-F3AE37B7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F7434-85A5-44BE-A212-A46A5AFA8B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2097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C3A7F-4EF9-67FA-EE14-171F15FA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3C73FB-80A5-F9CD-8920-45772AC4BF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95C18-2C1E-842B-417A-C5BB0492D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B2C23-CAA5-461A-B309-C4617A063A1D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08207-1CD2-27A0-E167-60E3A4037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1D08D8-2F64-5C6E-959B-A18A7017F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F7434-85A5-44BE-A212-A46A5AFA8B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3655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B9B0B3-0B63-BDB9-ED7B-5690C538C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B7BFFE-AAD6-8C50-43D9-A990F62561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AC6E2-04DF-6DEE-3397-2F511BB83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B2C23-CAA5-461A-B309-C4617A063A1D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D5E37-2472-4004-E51E-65D6D8A00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F1BAC8-106B-CFB9-8D4B-11A9E7D75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F7434-85A5-44BE-A212-A46A5AFA8B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5892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Only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9AFC7-5A92-11DE-9403-A24DCCB90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6287" y="1443517"/>
            <a:ext cx="10515600" cy="1325563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Quicksand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15A780-312C-AC19-25E9-5A8A6C0B7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F7434-85A5-44BE-A212-A46A5AFA8B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5813169"/>
      </p:ext>
    </p:extLst>
  </p:cSld>
  <p:clrMapOvr>
    <a:masterClrMapping/>
  </p:clrMapOvr>
  <p:transition spd="slow">
    <p:push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bin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ct">
            <a:extLst>
              <a:ext uri="{FF2B5EF4-FFF2-40B4-BE49-F238E27FC236}">
                <a16:creationId xmlns:a16="http://schemas.microsoft.com/office/drawing/2014/main" id="{1CEABFB7-0E55-6B42-07AC-811A73351439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alphaModFix/>
          </a:blip>
          <a:stretch/>
        </p:blipFill>
        <p:spPr>
          <a:xfrm>
            <a:off x="0" y="0"/>
            <a:ext cx="10601325" cy="1420273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3DBBF8-B311-9293-FDF3-4A284D9FB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132" y="9471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C9F6C6-73A5-0E7A-7077-E131FC32C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oundRect">
            <a:avLst>
              <a:gd name="adj" fmla="val 4177"/>
            </a:avLst>
          </a:prstGeom>
          <a:solidFill>
            <a:srgbClr val="DDE4F8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 Third level</a:t>
            </a:r>
          </a:p>
          <a:p>
            <a:pPr lvl="3"/>
            <a:r>
              <a:rPr lang="en-US" dirty="0"/>
              <a:t> Fourth level</a:t>
            </a:r>
          </a:p>
          <a:p>
            <a:pPr lvl="4"/>
            <a:r>
              <a:rPr lang="en-US" dirty="0"/>
              <a:t> 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C7E770-D3AD-DCE7-4035-43C1F5E493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5B2C23-CAA5-461A-B309-C4617A063A1D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1A65FE-6E8B-5A92-BCDE-664181253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37AEF-085A-A1E4-5D23-50EC9146D0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9F7434-85A5-44BE-A212-A46A5AFA8B4A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layoutShapeInnerChild1">
            <a:extLst>
              <a:ext uri="{FF2B5EF4-FFF2-40B4-BE49-F238E27FC236}">
                <a16:creationId xmlns:a16="http://schemas.microsoft.com/office/drawing/2014/main" id="{5DE74BB6-3FFA-3BBE-C247-88A534B93E63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alphaModFix/>
            <a:extLst>
              <a:ext uri="{899FBA48-7B2C-474C-B2AE-7FA3B76AA679}">
                <a14:useLocalDpi xmlns="" xmlns:a16="http://schemas.microsoft.com/office/drawing/2014/main" xmlns:asvg="http://schemas.microsoft.com/office/drawing/2016/SVG/main" xmlns:p14="http://schemas.microsoft.com/office/powerpoint/2010/main" xmlns:a14="http://schemas.microsoft.com/office/drawing/2010/main" val="0"/>
              </a:ext>
            </a:extLst>
          </a:blip>
          <a:srcRect t="-261" b="-261"/>
          <a:stretch/>
        </p:blipFill>
        <p:spPr>
          <a:xfrm>
            <a:off x="11743019" y="329183"/>
            <a:ext cx="448981" cy="897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493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3" grpId="0" uiExpand="1" build="p" animBg="1">
        <p:tmplLst>
          <p:tmpl>
            <p:tnLst>
              <p:par>
                <p:cTn presetID="42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42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42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42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4">
            <p:tnLst>
              <p:par>
                <p:cTn presetID="42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5">
            <p:tnLst>
              <p:par>
                <p:cTn presetID="42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8" grpId="0"/>
    </p:bld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Quicksand" pitchFamily="2" charset="0"/>
          <a:ea typeface="+mj-ea"/>
          <a:cs typeface="+mj-cs"/>
        </a:defRPr>
      </a:lvl1pPr>
    </p:titleStyle>
    <p:bodyStyle>
      <a:lvl1pPr marL="801688" indent="-228600" algn="l" defTabSz="914400" rtl="0" eaLnBrk="1" latinLnBrk="0" hangingPunct="1">
        <a:lnSpc>
          <a:spcPct val="150000"/>
        </a:lnSpc>
        <a:spcBef>
          <a:spcPts val="1000"/>
        </a:spcBef>
        <a:buClr>
          <a:srgbClr val="204ECF"/>
        </a:buClr>
        <a:buFontTx/>
        <a:buChar char="●"/>
        <a:tabLst>
          <a:tab pos="361950" algn="l"/>
          <a:tab pos="449263" algn="l"/>
        </a:tabLst>
        <a:defRPr sz="2000" b="1" kern="1200">
          <a:solidFill>
            <a:schemeClr val="tx1"/>
          </a:solidFill>
          <a:latin typeface="Quicksand" pitchFamily="2" charset="0"/>
          <a:ea typeface="+mn-ea"/>
          <a:cs typeface="+mn-cs"/>
        </a:defRPr>
      </a:lvl1pPr>
      <a:lvl2pPr marL="1258888" indent="-228600" algn="l" defTabSz="914400" rtl="0" eaLnBrk="1" latinLnBrk="0" hangingPunct="1">
        <a:lnSpc>
          <a:spcPct val="150000"/>
        </a:lnSpc>
        <a:spcBef>
          <a:spcPts val="500"/>
        </a:spcBef>
        <a:buClr>
          <a:srgbClr val="204ECF"/>
        </a:buClr>
        <a:buFontTx/>
        <a:buChar char="●"/>
        <a:tabLst>
          <a:tab pos="361950" algn="l"/>
          <a:tab pos="449263" algn="l"/>
        </a:tabLst>
        <a:defRPr sz="2000" kern="1200">
          <a:solidFill>
            <a:schemeClr val="tx1"/>
          </a:solidFill>
          <a:latin typeface="IBM Plex Sans" panose="020B0503050203000203" pitchFamily="34" charset="0"/>
          <a:ea typeface="+mn-ea"/>
          <a:cs typeface="+mn-cs"/>
        </a:defRPr>
      </a:lvl2pPr>
      <a:lvl3pPr marL="1614488" indent="-228600" algn="l" defTabSz="914400" rtl="0" eaLnBrk="1" latinLnBrk="0" hangingPunct="1">
        <a:lnSpc>
          <a:spcPct val="150000"/>
        </a:lnSpc>
        <a:spcBef>
          <a:spcPts val="500"/>
        </a:spcBef>
        <a:buClr>
          <a:srgbClr val="204ECF"/>
        </a:buClr>
        <a:buFontTx/>
        <a:buChar char="●"/>
        <a:tabLst>
          <a:tab pos="361950" algn="l"/>
          <a:tab pos="449263" algn="l"/>
        </a:tabLst>
        <a:defRPr sz="2000" kern="1200">
          <a:solidFill>
            <a:schemeClr val="tx1"/>
          </a:solidFill>
          <a:latin typeface="IBM Plex Sans" panose="020B0503050203000203" pitchFamily="34" charset="0"/>
          <a:ea typeface="+mn-ea"/>
          <a:cs typeface="+mn-cs"/>
        </a:defRPr>
      </a:lvl3pPr>
      <a:lvl4pPr marL="1884363" indent="-228600" algn="l" defTabSz="914400" rtl="0" eaLnBrk="1" latinLnBrk="0" hangingPunct="1">
        <a:lnSpc>
          <a:spcPct val="150000"/>
        </a:lnSpc>
        <a:spcBef>
          <a:spcPts val="500"/>
        </a:spcBef>
        <a:buClr>
          <a:srgbClr val="204ECF"/>
        </a:buClr>
        <a:buFontTx/>
        <a:buChar char="●"/>
        <a:tabLst>
          <a:tab pos="361950" algn="l"/>
          <a:tab pos="449263" algn="l"/>
        </a:tabLst>
        <a:defRPr sz="2000" kern="1200">
          <a:solidFill>
            <a:schemeClr val="tx1"/>
          </a:solidFill>
          <a:latin typeface="IBM Plex Sans" panose="020B0503050203000203" pitchFamily="34" charset="0"/>
          <a:ea typeface="+mn-ea"/>
          <a:cs typeface="+mn-cs"/>
        </a:defRPr>
      </a:lvl4pPr>
      <a:lvl5pPr marL="2155825" indent="-228600" algn="l" defTabSz="914400" rtl="0" eaLnBrk="1" latinLnBrk="0" hangingPunct="1">
        <a:lnSpc>
          <a:spcPct val="150000"/>
        </a:lnSpc>
        <a:spcBef>
          <a:spcPts val="500"/>
        </a:spcBef>
        <a:buClr>
          <a:srgbClr val="204ECF"/>
        </a:buClr>
        <a:buFontTx/>
        <a:buChar char="●"/>
        <a:tabLst>
          <a:tab pos="361950" algn="l"/>
          <a:tab pos="449263" algn="l"/>
        </a:tabLst>
        <a:defRPr sz="2000" kern="1200">
          <a:solidFill>
            <a:schemeClr val="tx1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qlite.org/cli.html" TargetMode="External"/><Relationship Id="rId2" Type="http://schemas.openxmlformats.org/officeDocument/2006/relationships/hyperlink" Target="https://sqlite.org/download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rsync.html" TargetMode="External"/><Relationship Id="rId5" Type="http://schemas.openxmlformats.org/officeDocument/2006/relationships/hyperlink" Target="https://sqlite.org/sqlanalyze.html" TargetMode="External"/><Relationship Id="rId4" Type="http://schemas.openxmlformats.org/officeDocument/2006/relationships/hyperlink" Target="https://sqlite.org/sqldiff.html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796AC-54CC-02BC-97BA-F4D5EE062A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4400" dirty="0">
                <a:solidFill>
                  <a:schemeClr val="tx1"/>
                </a:solidFill>
              </a:rPr>
              <a:t>Working with Databases — SQLite &amp; </a:t>
            </a:r>
            <a:r>
              <a:rPr lang="en-IN" sz="4400" dirty="0" err="1">
                <a:solidFill>
                  <a:schemeClr val="tx1"/>
                </a:solidFill>
              </a:rPr>
              <a:t>SQLAlchemy</a:t>
            </a:r>
            <a:r>
              <a:rPr lang="en-IN" sz="4400" dirty="0">
                <a:solidFill>
                  <a:schemeClr val="tx1"/>
                </a:solidFill>
              </a:rPr>
              <a:t> ORM</a:t>
            </a:r>
            <a:endParaRPr lang="en-IN" sz="2800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4E0735-0A03-3173-5369-23FD212D08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#7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8615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4E1FA-63A8-7D47-0C03-07518B76B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Prerequisites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708CF-EFC5-E74D-2A97-90AB9F6D6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030288" indent="-457200">
              <a:buAutoNum type="arabicPeriod"/>
            </a:pPr>
            <a:r>
              <a:rPr lang="en-IN" dirty="0"/>
              <a:t>Database Fundamentals</a:t>
            </a:r>
          </a:p>
          <a:p>
            <a:pPr marL="1030288" indent="-457200">
              <a:buAutoNum type="arabicPeriod"/>
            </a:pPr>
            <a:r>
              <a:rPr lang="en-IN" sz="2000" i="0" u="none" strike="noStrike" dirty="0">
                <a:solidFill>
                  <a:srgbClr val="000000"/>
                </a:solidFill>
                <a:effectLst/>
              </a:rPr>
              <a:t>SQLite Basics</a:t>
            </a:r>
          </a:p>
          <a:p>
            <a:pPr marL="1030288" indent="-457200">
              <a:buAutoNum type="arabicPeriod"/>
            </a:pPr>
            <a:r>
              <a:rPr lang="en-IN" dirty="0" err="1"/>
              <a:t>SQLAlchemy</a:t>
            </a:r>
            <a:r>
              <a:rPr lang="en-IN" dirty="0"/>
              <a:t> Core</a:t>
            </a:r>
          </a:p>
          <a:p>
            <a:pPr marL="1030288" indent="-457200">
              <a:buAutoNum type="arabicPeriod"/>
            </a:pPr>
            <a:r>
              <a:rPr lang="en-IN" dirty="0" err="1"/>
              <a:t>SQLAlchemy</a:t>
            </a:r>
            <a:r>
              <a:rPr lang="en-IN" dirty="0"/>
              <a:t> ORM</a:t>
            </a:r>
          </a:p>
          <a:p>
            <a:pPr marL="1030288" indent="-457200">
              <a:buAutoNum type="arabicPeriod"/>
            </a:pPr>
            <a:r>
              <a:rPr lang="en-IN" dirty="0"/>
              <a:t>Advanced ORM Patterns</a:t>
            </a:r>
          </a:p>
        </p:txBody>
      </p:sp>
    </p:spTree>
    <p:extLst>
      <p:ext uri="{BB962C8B-B14F-4D97-AF65-F5344CB8AC3E}">
        <p14:creationId xmlns:p14="http://schemas.microsoft.com/office/powerpoint/2010/main" val="826467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0BE95-69ED-9220-7670-8981CE518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1030288" indent="-457200">
              <a:buAutoNum type="arabicPeriod"/>
            </a:pPr>
            <a:r>
              <a:rPr lang="en-IN" dirty="0"/>
              <a:t>Database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CFB78-5F3F-E689-0829-B106CD311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dirty="0"/>
              <a:t>A database is an </a:t>
            </a:r>
            <a:r>
              <a:rPr lang="en-US" u="sng" dirty="0"/>
              <a:t>organized collection</a:t>
            </a:r>
            <a:r>
              <a:rPr lang="en-US" b="0" dirty="0"/>
              <a:t> of structured information or data, typically stored electronically in a computer system. </a:t>
            </a:r>
          </a:p>
          <a:p>
            <a:r>
              <a:rPr lang="en-US" b="0" dirty="0"/>
              <a:t>It allows for efficient storage, retrieval, and management of data.</a:t>
            </a:r>
          </a:p>
        </p:txBody>
      </p:sp>
    </p:spTree>
    <p:extLst>
      <p:ext uri="{BB962C8B-B14F-4D97-AF65-F5344CB8AC3E}">
        <p14:creationId xmlns:p14="http://schemas.microsoft.com/office/powerpoint/2010/main" val="1937598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10EC3-DD53-B913-9663-0D7EFE6DF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Relational Database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9899CA5-0178-3BF7-4F8D-947BBDA417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83573440"/>
              </p:ext>
            </p:extLst>
          </p:nvPr>
        </p:nvGraphicFramePr>
        <p:xfrm>
          <a:off x="2883301" y="2712335"/>
          <a:ext cx="5597262" cy="2382500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792349">
                  <a:extLst>
                    <a:ext uri="{9D8B030D-6E8A-4147-A177-3AD203B41FA5}">
                      <a16:colId xmlns:a16="http://schemas.microsoft.com/office/drawing/2014/main" val="4214009745"/>
                    </a:ext>
                  </a:extLst>
                </a:gridCol>
                <a:gridCol w="1639019">
                  <a:extLst>
                    <a:ext uri="{9D8B030D-6E8A-4147-A177-3AD203B41FA5}">
                      <a16:colId xmlns:a16="http://schemas.microsoft.com/office/drawing/2014/main" val="3754904654"/>
                    </a:ext>
                  </a:extLst>
                </a:gridCol>
                <a:gridCol w="1733909">
                  <a:extLst>
                    <a:ext uri="{9D8B030D-6E8A-4147-A177-3AD203B41FA5}">
                      <a16:colId xmlns:a16="http://schemas.microsoft.com/office/drawing/2014/main" val="3006000572"/>
                    </a:ext>
                  </a:extLst>
                </a:gridCol>
                <a:gridCol w="1431985">
                  <a:extLst>
                    <a:ext uri="{9D8B030D-6E8A-4147-A177-3AD203B41FA5}">
                      <a16:colId xmlns:a16="http://schemas.microsoft.com/office/drawing/2014/main" val="3520321211"/>
                    </a:ext>
                  </a:extLst>
                </a:gridCol>
              </a:tblGrid>
              <a:tr h="595625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id</a:t>
                      </a:r>
                      <a:endParaRPr lang="en-IN" sz="32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name</a:t>
                      </a:r>
                      <a:endParaRPr lang="en-IN" sz="32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age</a:t>
                      </a:r>
                      <a:endParaRPr lang="en-IN" sz="32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city</a:t>
                      </a:r>
                      <a:endParaRPr lang="en-IN" sz="32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59386567"/>
                  </a:ext>
                </a:extLst>
              </a:tr>
              <a:tr h="595625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IN" sz="3200" b="1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Alice</a:t>
                      </a:r>
                      <a:endParaRPr lang="en-IN" sz="3200" b="1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30</a:t>
                      </a:r>
                      <a:endParaRPr lang="en-IN" sz="3200" b="1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Chicago</a:t>
                      </a:r>
                      <a:endParaRPr lang="en-IN" sz="3200" b="1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975366402"/>
                  </a:ext>
                </a:extLst>
              </a:tr>
              <a:tr h="595625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en-IN" sz="3200" b="1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Bob</a:t>
                      </a:r>
                      <a:endParaRPr lang="en-IN" sz="3200" b="1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3</a:t>
                      </a:r>
                      <a:r>
                        <a:rPr lang="en-IN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n-IN" sz="3200" b="1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LA</a:t>
                      </a:r>
                      <a:endParaRPr lang="en-IN" sz="3200" b="1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010607557"/>
                  </a:ext>
                </a:extLst>
              </a:tr>
              <a:tr h="595625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3</a:t>
                      </a:r>
                      <a:endParaRPr lang="en-IN" sz="3200" b="1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Bob</a:t>
                      </a:r>
                      <a:endParaRPr lang="en-IN" sz="3200" b="1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35</a:t>
                      </a:r>
                      <a:endParaRPr lang="en-IN" sz="3200" b="1" dirty="0">
                        <a:effectLst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8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Chicago</a:t>
                      </a:r>
                      <a:endParaRPr lang="en-IN" sz="3200" b="1" dirty="0">
                        <a:effectLst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775464722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1C6D6E3F-A3C4-ABC7-6E18-17F024AF8F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7629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0AF11-FB1D-F04C-4AC7-F7B0E8A26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Database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82CFD-A57A-34B5-D020-BD643BD68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73088" indent="0">
              <a:buNone/>
            </a:pPr>
            <a:r>
              <a:rPr lang="en-US" b="0" dirty="0"/>
              <a:t> 1. Database: The entire system</a:t>
            </a:r>
          </a:p>
          <a:p>
            <a:pPr marL="573088" indent="0">
              <a:buNone/>
            </a:pPr>
            <a:r>
              <a:rPr lang="en-US" b="0" dirty="0"/>
              <a:t> 2. Table: A collection of related data</a:t>
            </a:r>
          </a:p>
          <a:p>
            <a:pPr marL="573088" indent="0">
              <a:buNone/>
            </a:pPr>
            <a:r>
              <a:rPr lang="en-US" b="0" dirty="0"/>
              <a:t> 3. Row/Record: A single entry in a table</a:t>
            </a:r>
          </a:p>
          <a:p>
            <a:pPr marL="573088" indent="0">
              <a:buNone/>
            </a:pPr>
            <a:r>
              <a:rPr lang="en-US" b="0" dirty="0"/>
              <a:t> 4. Column/Field: A single attribute of a record</a:t>
            </a:r>
          </a:p>
          <a:p>
            <a:pPr marL="573088" indent="0">
              <a:buNone/>
            </a:pPr>
            <a:r>
              <a:rPr lang="en-US" b="0" dirty="0"/>
              <a:t> 5. Primary Key: Unique identifier for each row</a:t>
            </a:r>
          </a:p>
          <a:p>
            <a:pPr marL="573088" indent="0">
              <a:buNone/>
            </a:pPr>
            <a:r>
              <a:rPr lang="en-US" b="0" dirty="0"/>
              <a:t> 6. Foreign Key: Reference to a primary key in another table</a:t>
            </a:r>
          </a:p>
          <a:p>
            <a:pPr marL="573088" indent="0">
              <a:buNone/>
            </a:pPr>
            <a:r>
              <a:rPr lang="en-US" b="0" dirty="0"/>
              <a:t> 7. Schema: The structure of the database</a:t>
            </a:r>
          </a:p>
          <a:p>
            <a:pPr marL="573088" indent="0">
              <a:buNone/>
            </a:pPr>
            <a:r>
              <a:rPr lang="en-US" b="0" dirty="0"/>
              <a:t> 8. Query: A request for data</a:t>
            </a:r>
          </a:p>
          <a:p>
            <a:pPr marL="573088" indent="0">
              <a:buNone/>
            </a:pPr>
            <a:r>
              <a:rPr lang="en-US" b="0" dirty="0"/>
              <a:t> 9. Index: A structure that improves query speed</a:t>
            </a:r>
          </a:p>
          <a:p>
            <a:pPr marL="573088" indent="0">
              <a:buNone/>
            </a:pPr>
            <a:r>
              <a:rPr lang="en-US" b="0" dirty="0"/>
              <a:t> 10. Relationship: How tables are connected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862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FAB83-9BAA-B3B1-F2FC-6DD474320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SQLite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2432F-1761-4762-590F-17E4E188A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0" dirty="0"/>
              <a:t>What is SQLite?</a:t>
            </a:r>
            <a:endParaRPr lang="en-US" dirty="0"/>
          </a:p>
          <a:p>
            <a:pPr lvl="1"/>
            <a:r>
              <a:rPr lang="en-US" b="0" dirty="0"/>
              <a:t>SQLite is a lightweight, file-based relational database that requires no server setup. It's perfect for small applications, local storage, and prototyping.</a:t>
            </a:r>
          </a:p>
          <a:p>
            <a:pPr lvl="1"/>
            <a:r>
              <a:rPr lang="en-US" dirty="0">
                <a:hlinkClick r:id="rId2"/>
              </a:rPr>
              <a:t>https://sqlite.org/download.html</a:t>
            </a:r>
            <a:r>
              <a:rPr lang="en-US" dirty="0"/>
              <a:t> </a:t>
            </a:r>
            <a:r>
              <a:rPr lang="en-US" sz="1400" dirty="0"/>
              <a:t>(Command-line tools for Windows x64, including (1) the </a:t>
            </a:r>
            <a:r>
              <a:rPr lang="en-US" sz="1400" dirty="0">
                <a:hlinkClick r:id="rId3"/>
              </a:rPr>
              <a:t>command-line shell</a:t>
            </a:r>
            <a:r>
              <a:rPr lang="en-US" sz="1400" dirty="0"/>
              <a:t>, (2) </a:t>
            </a:r>
            <a:r>
              <a:rPr lang="en-US" sz="1400" dirty="0">
                <a:hlinkClick r:id="rId4"/>
              </a:rPr>
              <a:t>sqldiff.exe</a:t>
            </a:r>
            <a:r>
              <a:rPr lang="en-US" sz="1400" dirty="0"/>
              <a:t>, (3) </a:t>
            </a:r>
            <a:r>
              <a:rPr lang="en-US" sz="1400" dirty="0">
                <a:hlinkClick r:id="rId5"/>
              </a:rPr>
              <a:t>sqlite3_analyzer.exe</a:t>
            </a:r>
            <a:r>
              <a:rPr lang="en-US" sz="1400" dirty="0"/>
              <a:t>, and (4) </a:t>
            </a:r>
            <a:r>
              <a:rPr lang="en-US" sz="1400" dirty="0">
                <a:hlinkClick r:id="rId6"/>
              </a:rPr>
              <a:t>sqlite3_rsync.exe</a:t>
            </a:r>
            <a:r>
              <a:rPr lang="en-US" sz="1400" dirty="0"/>
              <a:t>.) Windows user</a:t>
            </a: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15636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11B4-515B-565C-ECD0-E819DCC9B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SQLAlchemy</a:t>
            </a:r>
            <a:r>
              <a:rPr lang="en-IN" dirty="0"/>
              <a:t> 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2F8AB-01E9-ADEE-9623-49A0CB2ED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dirty="0"/>
              <a:t>What is </a:t>
            </a:r>
            <a:r>
              <a:rPr lang="en-US" b="0" dirty="0" err="1"/>
              <a:t>SQLAlchemy</a:t>
            </a:r>
            <a:r>
              <a:rPr lang="en-US" b="0" dirty="0"/>
              <a:t>?</a:t>
            </a:r>
            <a:endParaRPr lang="en-US" dirty="0"/>
          </a:p>
          <a:p>
            <a:pPr lvl="1"/>
            <a:r>
              <a:rPr lang="en-US" b="0" dirty="0" err="1"/>
              <a:t>SQLAlchemy</a:t>
            </a:r>
            <a:r>
              <a:rPr lang="en-US" b="0" dirty="0"/>
              <a:t> is a powerful SQL toolkit and Object-Relational Mapping (ORM) library for Python. It provides two main components:</a:t>
            </a:r>
          </a:p>
          <a:p>
            <a:pPr lvl="2" fontAlgn="base"/>
            <a:r>
              <a:rPr lang="en-US" dirty="0"/>
              <a:t>Core</a:t>
            </a:r>
            <a:r>
              <a:rPr lang="en-US" b="0" dirty="0"/>
              <a:t>: Low-level SQL expression language</a:t>
            </a:r>
          </a:p>
          <a:p>
            <a:pPr lvl="2" fontAlgn="base"/>
            <a:r>
              <a:rPr lang="en-US" dirty="0"/>
              <a:t>ORM</a:t>
            </a:r>
            <a:r>
              <a:rPr lang="en-US" b="0" dirty="0"/>
              <a:t>: High-level object mapping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8708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37C24-599D-F028-37F6-C25DB02DD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SQLAlchemy</a:t>
            </a:r>
            <a:r>
              <a:rPr lang="en-IN" dirty="0"/>
              <a:t> 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B11FE-514C-F841-ABF8-3001B95FF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dirty="0"/>
              <a:t>Understanding ORM</a:t>
            </a:r>
            <a:endParaRPr lang="en-US" dirty="0"/>
          </a:p>
          <a:p>
            <a:r>
              <a:rPr lang="en-US" b="0" dirty="0"/>
              <a:t>ORM (Object-Relational Mapping) is a technique that lets you interact with your database using Python objects instead of writing SQL queries.</a:t>
            </a:r>
          </a:p>
        </p:txBody>
      </p:sp>
    </p:spTree>
    <p:extLst>
      <p:ext uri="{BB962C8B-B14F-4D97-AF65-F5344CB8AC3E}">
        <p14:creationId xmlns:p14="http://schemas.microsoft.com/office/powerpoint/2010/main" val="3954606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A04A0D-4115-3A1E-7E14-C8DBAC62B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6517" y="3243804"/>
            <a:ext cx="4098965" cy="1133475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Thank You</a:t>
            </a:r>
            <a:endParaRPr lang="en-IN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5522624"/>
      </p:ext>
    </p:extLst>
  </p:cSld>
  <p:clrMapOvr>
    <a:masterClrMapping/>
  </p:clrMapOvr>
</p:sld>
</file>

<file path=ppt/theme/theme1.xml><?xml version="1.0" encoding="utf-8"?>
<a:theme xmlns:a="http://schemas.openxmlformats.org/drawingml/2006/main" name="ABC Final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BC Final Theme" id="{671380DE-0F6A-48AA-BCBD-DD1332E66760}" vid="{BFD2BD10-29C3-40AA-8AC4-FE51644B6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ABC Final Theme</Template>
  <TotalTime>2759</TotalTime>
  <Words>340</Words>
  <Application>Microsoft Office PowerPoint</Application>
  <PresentationFormat>Widescreen</PresentationFormat>
  <Paragraphs>52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IBM Plex Sans</vt:lpstr>
      <vt:lpstr>Quicksand</vt:lpstr>
      <vt:lpstr>ABC Final Theme</vt:lpstr>
      <vt:lpstr>Working with Databases — SQLite &amp; SQLAlchemy ORM</vt:lpstr>
      <vt:lpstr>Prerequisites</vt:lpstr>
      <vt:lpstr>Database Fundamentals</vt:lpstr>
      <vt:lpstr>Relational Database</vt:lpstr>
      <vt:lpstr>Database Terms</vt:lpstr>
      <vt:lpstr>SQLite Basics</vt:lpstr>
      <vt:lpstr>SQLAlchemy Core</vt:lpstr>
      <vt:lpstr>SQLAlchemy ORM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Rakesh Kr</dc:creator>
  <cp:lastModifiedBy>Rakesh Kr</cp:lastModifiedBy>
  <cp:revision>21</cp:revision>
  <dcterms:created xsi:type="dcterms:W3CDTF">2026-07-07T12:11:42Z</dcterms:created>
  <dcterms:modified xsi:type="dcterms:W3CDTF">2026-08-04T14:02:58Z</dcterms:modified>
</cp:coreProperties>
</file>