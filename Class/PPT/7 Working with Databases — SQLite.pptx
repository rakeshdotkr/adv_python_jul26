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83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97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61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63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5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6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9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92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1316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B2C23-CAA5-461A-B309-C4617A063A1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qlite.org/cli.html" TargetMode="External"/><Relationship Id="rId2" Type="http://schemas.openxmlformats.org/officeDocument/2006/relationships/hyperlink" Target="https://sqlite.org/download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qlite.org/rsync.html" TargetMode="External"/><Relationship Id="rId5" Type="http://schemas.openxmlformats.org/officeDocument/2006/relationships/hyperlink" Target="https://sqlite.org/sqlanalyze.html" TargetMode="External"/><Relationship Id="rId4" Type="http://schemas.openxmlformats.org/officeDocument/2006/relationships/hyperlink" Target="https://sqlite.org/sqldiff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96AC-54CC-02BC-97BA-F4D5EE062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chemeClr val="tx1"/>
                </a:solidFill>
              </a:rPr>
              <a:t>Working with Databases — SQLite &amp; </a:t>
            </a:r>
            <a:r>
              <a:rPr lang="en-IN" sz="4400" dirty="0" err="1">
                <a:solidFill>
                  <a:schemeClr val="tx1"/>
                </a:solidFill>
              </a:rPr>
              <a:t>SQLAlchemy</a:t>
            </a:r>
            <a:r>
              <a:rPr lang="en-IN" sz="4400" dirty="0">
                <a:solidFill>
                  <a:schemeClr val="tx1"/>
                </a:solidFill>
              </a:rPr>
              <a:t> ORM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E0735-0A03-3173-5369-23FD212D0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#7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E1FA-63A8-7D47-0C03-07518B76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708CF-EFC5-E74D-2A97-90AB9F6D6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30288" indent="-457200">
              <a:buAutoNum type="arabicPeriod"/>
            </a:pPr>
            <a:r>
              <a:rPr lang="en-IN" dirty="0"/>
              <a:t>Database Fundamentals</a:t>
            </a:r>
          </a:p>
          <a:p>
            <a:pPr marL="1030288" indent="-457200">
              <a:buAutoNum type="arabicPeriod"/>
            </a:pPr>
            <a:r>
              <a:rPr lang="en-IN" sz="2000" i="0" u="none" strike="noStrike" dirty="0">
                <a:solidFill>
                  <a:srgbClr val="000000"/>
                </a:solidFill>
                <a:effectLst/>
              </a:rPr>
              <a:t>SQLite Basics</a:t>
            </a:r>
          </a:p>
          <a:p>
            <a:pPr marL="1030288" indent="-457200">
              <a:buAutoNum type="arabicPeriod"/>
            </a:pPr>
            <a:r>
              <a:rPr lang="en-IN" dirty="0" err="1"/>
              <a:t>SQLAlchemy</a:t>
            </a:r>
            <a:r>
              <a:rPr lang="en-IN" dirty="0"/>
              <a:t> Core</a:t>
            </a:r>
          </a:p>
          <a:p>
            <a:pPr marL="1030288" indent="-457200">
              <a:buAutoNum type="arabicPeriod"/>
            </a:pPr>
            <a:r>
              <a:rPr lang="en-IN" dirty="0" err="1"/>
              <a:t>SQLAlchemy</a:t>
            </a:r>
            <a:r>
              <a:rPr lang="en-IN" dirty="0"/>
              <a:t> ORM</a:t>
            </a:r>
          </a:p>
          <a:p>
            <a:pPr marL="1030288" indent="-457200">
              <a:buAutoNum type="arabicPeriod"/>
            </a:pPr>
            <a:r>
              <a:rPr lang="en-IN" dirty="0"/>
              <a:t>Advanced ORM Patterns</a:t>
            </a:r>
          </a:p>
        </p:txBody>
      </p:sp>
    </p:spTree>
    <p:extLst>
      <p:ext uri="{BB962C8B-B14F-4D97-AF65-F5344CB8AC3E}">
        <p14:creationId xmlns:p14="http://schemas.microsoft.com/office/powerpoint/2010/main" val="82646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BE95-69ED-9220-7670-8981CE51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030288" indent="-457200">
              <a:buAutoNum type="arabicPeriod"/>
            </a:pPr>
            <a:r>
              <a:rPr lang="en-IN" dirty="0"/>
              <a:t>Database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FB78-5F3F-E689-0829-B106CD311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 database is an </a:t>
            </a:r>
            <a:r>
              <a:rPr lang="en-US" u="sng" dirty="0"/>
              <a:t>organized collection</a:t>
            </a:r>
            <a:r>
              <a:rPr lang="en-US" b="0" dirty="0"/>
              <a:t> of structured information or data, typically stored electronically in a computer system. </a:t>
            </a:r>
          </a:p>
          <a:p>
            <a:r>
              <a:rPr lang="en-US" b="0" dirty="0"/>
              <a:t>It allows for efficient storage, retrieval, and management of data.</a:t>
            </a:r>
          </a:p>
        </p:txBody>
      </p:sp>
    </p:spTree>
    <p:extLst>
      <p:ext uri="{BB962C8B-B14F-4D97-AF65-F5344CB8AC3E}">
        <p14:creationId xmlns:p14="http://schemas.microsoft.com/office/powerpoint/2010/main" val="193759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10EC3-DD53-B913-9663-0D7EFE6D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Database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9899CA5-0178-3BF7-4F8D-947BBDA417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573440"/>
              </p:ext>
            </p:extLst>
          </p:nvPr>
        </p:nvGraphicFramePr>
        <p:xfrm>
          <a:off x="2883301" y="2712335"/>
          <a:ext cx="5597262" cy="23825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792349">
                  <a:extLst>
                    <a:ext uri="{9D8B030D-6E8A-4147-A177-3AD203B41FA5}">
                      <a16:colId xmlns:a16="http://schemas.microsoft.com/office/drawing/2014/main" val="4214009745"/>
                    </a:ext>
                  </a:extLst>
                </a:gridCol>
                <a:gridCol w="1639019">
                  <a:extLst>
                    <a:ext uri="{9D8B030D-6E8A-4147-A177-3AD203B41FA5}">
                      <a16:colId xmlns:a16="http://schemas.microsoft.com/office/drawing/2014/main" val="3754904654"/>
                    </a:ext>
                  </a:extLst>
                </a:gridCol>
                <a:gridCol w="1733909">
                  <a:extLst>
                    <a:ext uri="{9D8B030D-6E8A-4147-A177-3AD203B41FA5}">
                      <a16:colId xmlns:a16="http://schemas.microsoft.com/office/drawing/2014/main" val="3006000572"/>
                    </a:ext>
                  </a:extLst>
                </a:gridCol>
                <a:gridCol w="1431985">
                  <a:extLst>
                    <a:ext uri="{9D8B030D-6E8A-4147-A177-3AD203B41FA5}">
                      <a16:colId xmlns:a16="http://schemas.microsoft.com/office/drawing/2014/main" val="3520321211"/>
                    </a:ext>
                  </a:extLst>
                </a:gridCol>
              </a:tblGrid>
              <a:tr h="59562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id</a:t>
                      </a:r>
                      <a:endParaRPr lang="en-IN" sz="32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name</a:t>
                      </a:r>
                      <a:endParaRPr lang="en-IN" sz="32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age</a:t>
                      </a:r>
                      <a:endParaRPr lang="en-IN" sz="32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city</a:t>
                      </a:r>
                      <a:endParaRPr lang="en-IN" sz="32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59386567"/>
                  </a:ext>
                </a:extLst>
              </a:tr>
              <a:tr h="59562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Alice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Chicago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975366402"/>
                  </a:ext>
                </a:extLst>
              </a:tr>
              <a:tr h="59562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Bob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10607557"/>
                  </a:ext>
                </a:extLst>
              </a:tr>
              <a:tr h="59562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Bob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Chicago</a:t>
                      </a:r>
                      <a:endParaRPr lang="en-IN" sz="3200" b="1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7546472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1C6D6E3F-A3C4-ABC7-6E18-17F024AF8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62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AF11-FB1D-F04C-4AC7-F7B0E8A26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82CFD-A57A-34B5-D020-BD643BD68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73088" indent="0">
              <a:buNone/>
            </a:pPr>
            <a:r>
              <a:rPr lang="en-US" b="0" dirty="0"/>
              <a:t> 1. Database: The entire system</a:t>
            </a:r>
          </a:p>
          <a:p>
            <a:pPr marL="573088" indent="0">
              <a:buNone/>
            </a:pPr>
            <a:r>
              <a:rPr lang="en-US" b="0" dirty="0"/>
              <a:t> 2. Table: A collection of related data</a:t>
            </a:r>
          </a:p>
          <a:p>
            <a:pPr marL="573088" indent="0">
              <a:buNone/>
            </a:pPr>
            <a:r>
              <a:rPr lang="en-US" b="0" dirty="0"/>
              <a:t> 3. Row/Record: A single entry in a table</a:t>
            </a:r>
          </a:p>
          <a:p>
            <a:pPr marL="573088" indent="0">
              <a:buNone/>
            </a:pPr>
            <a:r>
              <a:rPr lang="en-US" b="0" dirty="0"/>
              <a:t> 4. Column/Field: A single attribute of a record</a:t>
            </a:r>
          </a:p>
          <a:p>
            <a:pPr marL="573088" indent="0">
              <a:buNone/>
            </a:pPr>
            <a:r>
              <a:rPr lang="en-US" b="0" dirty="0"/>
              <a:t> 5. Primary Key: Unique identifier for each row</a:t>
            </a:r>
          </a:p>
          <a:p>
            <a:pPr marL="573088" indent="0">
              <a:buNone/>
            </a:pPr>
            <a:r>
              <a:rPr lang="en-US" b="0" dirty="0"/>
              <a:t> 6. Foreign Key: Reference to a primary key in another table</a:t>
            </a:r>
          </a:p>
          <a:p>
            <a:pPr marL="573088" indent="0">
              <a:buNone/>
            </a:pPr>
            <a:r>
              <a:rPr lang="en-US" b="0" dirty="0"/>
              <a:t> 7. Schema: The structure of the database</a:t>
            </a:r>
          </a:p>
          <a:p>
            <a:pPr marL="573088" indent="0">
              <a:buNone/>
            </a:pPr>
            <a:r>
              <a:rPr lang="en-US" b="0" dirty="0"/>
              <a:t> 8. Query: A request for data</a:t>
            </a:r>
          </a:p>
          <a:p>
            <a:pPr marL="573088" indent="0">
              <a:buNone/>
            </a:pPr>
            <a:r>
              <a:rPr lang="en-US" b="0" dirty="0"/>
              <a:t> 9. Index: A structure that improves query speed</a:t>
            </a:r>
          </a:p>
          <a:p>
            <a:pPr marL="573088" indent="0">
              <a:buNone/>
            </a:pPr>
            <a:r>
              <a:rPr lang="en-US" b="0" dirty="0"/>
              <a:t> 10. Relationship: How tables are connected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86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AB83-9BAA-B3B1-F2FC-6DD47432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SQLite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2432F-1761-4762-590F-17E4E188A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What is SQLite?</a:t>
            </a:r>
            <a:endParaRPr lang="en-US" dirty="0"/>
          </a:p>
          <a:p>
            <a:pPr lvl="1"/>
            <a:r>
              <a:rPr lang="en-US" b="0" dirty="0"/>
              <a:t>SQLite is a lightweight, file-based relational database that requires no server setup. It's perfect for small applications, local storage, and prototyping.</a:t>
            </a:r>
          </a:p>
          <a:p>
            <a:pPr lvl="1"/>
            <a:r>
              <a:rPr lang="en-US" dirty="0">
                <a:hlinkClick r:id="rId2"/>
              </a:rPr>
              <a:t>https://sqlite.org/download.html</a:t>
            </a:r>
            <a:r>
              <a:rPr lang="en-US" dirty="0"/>
              <a:t> </a:t>
            </a:r>
            <a:r>
              <a:rPr lang="en-US" sz="1400" dirty="0"/>
              <a:t>(Command-line tools for Windows x64, including (1) the </a:t>
            </a:r>
            <a:r>
              <a:rPr lang="en-US" sz="1400" dirty="0">
                <a:hlinkClick r:id="rId3"/>
              </a:rPr>
              <a:t>command-line shell</a:t>
            </a:r>
            <a:r>
              <a:rPr lang="en-US" sz="1400" dirty="0"/>
              <a:t>, (2) </a:t>
            </a:r>
            <a:r>
              <a:rPr lang="en-US" sz="1400" dirty="0">
                <a:hlinkClick r:id="rId4"/>
              </a:rPr>
              <a:t>sqldiff.exe</a:t>
            </a:r>
            <a:r>
              <a:rPr lang="en-US" sz="1400" dirty="0"/>
              <a:t>, (3) </a:t>
            </a:r>
            <a:r>
              <a:rPr lang="en-US" sz="1400" dirty="0">
                <a:hlinkClick r:id="rId5"/>
              </a:rPr>
              <a:t>sqlite3_analyzer.exe</a:t>
            </a:r>
            <a:r>
              <a:rPr lang="en-US" sz="1400" dirty="0"/>
              <a:t>, and (4) </a:t>
            </a:r>
            <a:r>
              <a:rPr lang="en-US" sz="1400" dirty="0">
                <a:hlinkClick r:id="rId6"/>
              </a:rPr>
              <a:t>sqlite3_rsync.exe</a:t>
            </a:r>
            <a:r>
              <a:rPr lang="en-US" sz="1400" dirty="0"/>
              <a:t>.)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56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11B4-515B-565C-ECD0-E819DCC9B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SQLAlchemy</a:t>
            </a:r>
            <a:r>
              <a:rPr lang="en-IN" dirty="0"/>
              <a:t>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2F8AB-01E9-ADEE-9623-49A0CB2ED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What is </a:t>
            </a:r>
            <a:r>
              <a:rPr lang="en-US" b="0" dirty="0" err="1"/>
              <a:t>SQLAlchemy</a:t>
            </a:r>
            <a:r>
              <a:rPr lang="en-US" b="0" dirty="0"/>
              <a:t>?</a:t>
            </a:r>
            <a:endParaRPr lang="en-US" dirty="0"/>
          </a:p>
          <a:p>
            <a:pPr lvl="1"/>
            <a:r>
              <a:rPr lang="en-US" b="0" dirty="0" err="1"/>
              <a:t>SQLAlchemy</a:t>
            </a:r>
            <a:r>
              <a:rPr lang="en-US" b="0" dirty="0"/>
              <a:t> is a powerful SQL toolkit and Object-Relational Mapping (ORM) library for Python. It provides two main components:</a:t>
            </a:r>
          </a:p>
          <a:p>
            <a:pPr lvl="2" fontAlgn="base"/>
            <a:r>
              <a:rPr lang="en-US" dirty="0"/>
              <a:t>Core</a:t>
            </a:r>
            <a:r>
              <a:rPr lang="en-US" b="0" dirty="0"/>
              <a:t>: Low-level SQL expression language</a:t>
            </a:r>
          </a:p>
          <a:p>
            <a:pPr lvl="2" fontAlgn="base"/>
            <a:r>
              <a:rPr lang="en-US" dirty="0"/>
              <a:t>ORM</a:t>
            </a:r>
            <a:r>
              <a:rPr lang="en-US" b="0" dirty="0"/>
              <a:t>: High-level object mapping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70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7C24-599D-F028-37F6-C25DB02D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SQLAlchemy</a:t>
            </a:r>
            <a:r>
              <a:rPr lang="en-IN" dirty="0"/>
              <a:t> 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B11FE-514C-F841-ABF8-3001B95FF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Understanding ORM</a:t>
            </a:r>
            <a:endParaRPr lang="en-US" dirty="0"/>
          </a:p>
          <a:p>
            <a:r>
              <a:rPr lang="en-US" b="0" dirty="0"/>
              <a:t>ORM (Object-Relational Mapping) is a technique that lets you interact with your database using Python objects instead of writing SQL queries.</a:t>
            </a:r>
          </a:p>
        </p:txBody>
      </p:sp>
    </p:spTree>
    <p:extLst>
      <p:ext uri="{BB962C8B-B14F-4D97-AF65-F5344CB8AC3E}">
        <p14:creationId xmlns:p14="http://schemas.microsoft.com/office/powerpoint/2010/main" val="3954606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A04A0D-4115-3A1E-7E14-C8DBAC62B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517" y="3243804"/>
            <a:ext cx="4098965" cy="113347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22624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2692</TotalTime>
  <Words>338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IBM Plex Sans</vt:lpstr>
      <vt:lpstr>Quicksand</vt:lpstr>
      <vt:lpstr>ABC Final Theme</vt:lpstr>
      <vt:lpstr>Working with Databases — SQLite &amp; SQLAlchemy ORM</vt:lpstr>
      <vt:lpstr>Prerequisites</vt:lpstr>
      <vt:lpstr>Database Fundamentals</vt:lpstr>
      <vt:lpstr>Relational Database</vt:lpstr>
      <vt:lpstr>Database Terms</vt:lpstr>
      <vt:lpstr>SQLite Basics</vt:lpstr>
      <vt:lpstr>SQLAlchemy Core</vt:lpstr>
      <vt:lpstr>SQLAlchemy ORM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Kr</dc:creator>
  <cp:lastModifiedBy>Rakesh Kr</cp:lastModifiedBy>
  <cp:revision>20</cp:revision>
  <dcterms:created xsi:type="dcterms:W3CDTF">2026-07-07T12:11:42Z</dcterms:created>
  <dcterms:modified xsi:type="dcterms:W3CDTF">2026-08-04T12:53:21Z</dcterms:modified>
</cp:coreProperties>
</file>